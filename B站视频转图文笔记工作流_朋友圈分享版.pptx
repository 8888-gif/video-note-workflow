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66928"/>
            <a:ext cx="2468880" cy="384048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 UI"/>
              </a:rPr>
              <a:t>可复制的视频学习笔记方案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5836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182637"/>
                </a:solidFill>
                <a:latin typeface="Microsoft YaHei UI"/>
              </a:rPr>
              <a:t>把 B 站课程视频
变成图文并茂笔记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99232"/>
            <a:ext cx="62179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5B6A82"/>
                </a:solidFill>
                <a:latin typeface="Microsoft YaHei UI"/>
              </a:rPr>
              <a:t>下载、合并、上传、提取、整理，一套流程跑通。适合软件学习、课程复盘、知识库沉淀。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4041648"/>
            <a:ext cx="1188720" cy="384048"/>
          </a:xfrm>
          <a:prstGeom prst="round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批量下载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4041648"/>
            <a:ext cx="1645920" cy="384048"/>
          </a:xfrm>
          <a:prstGeom prst="roundRect">
            <a:avLst/>
          </a:prstGeom>
          <a:solidFill>
            <a:srgbClr val="1EBCD8"/>
          </a:solidFill>
          <a:ln>
            <a:solidFill>
              <a:srgbClr val="1EB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百度网盘提取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77056" y="4041648"/>
            <a:ext cx="1691640" cy="384048"/>
          </a:xfrm>
          <a:prstGeom prst="roundRect">
            <a:avLst/>
          </a:prstGeom>
          <a:solidFill>
            <a:srgbClr val="F59139"/>
          </a:solidFill>
          <a:ln>
            <a:solidFill>
              <a:srgbClr val="F5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Markdown 笔记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914400"/>
            <a:ext cx="37490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26679" y="1234440"/>
            <a:ext cx="3108960" cy="384048"/>
          </a:xfrm>
          <a:prstGeom prst="roundRect">
            <a:avLst/>
          </a:prstGeom>
          <a:solidFill>
            <a:srgbClr val="E6F1FF"/>
          </a:solidFill>
          <a:ln>
            <a:solidFill>
              <a:srgbClr val="E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874519"/>
            <a:ext cx="2834640" cy="320040"/>
          </a:xfrm>
          <a:prstGeom prst="roundRect">
            <a:avLst/>
          </a:prstGeom>
          <a:solidFill>
            <a:srgbClr val="DBE4F2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2395728"/>
            <a:ext cx="3063240" cy="320040"/>
          </a:xfrm>
          <a:prstGeom prst="roundRect">
            <a:avLst/>
          </a:prstGeom>
          <a:solidFill>
            <a:srgbClr val="DBE4F2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2926080"/>
            <a:ext cx="2514600" cy="320040"/>
          </a:xfrm>
          <a:prstGeom prst="roundRect">
            <a:avLst/>
          </a:prstGeom>
          <a:solidFill>
            <a:srgbClr val="DBE4F2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26679" y="3840480"/>
            <a:ext cx="1143000" cy="822960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3840480"/>
            <a:ext cx="1143000" cy="822960"/>
          </a:xfrm>
          <a:prstGeom prst="round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21945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2400" b="1">
                <a:solidFill>
                  <a:srgbClr val="182637"/>
                </a:solidFill>
                <a:latin typeface="Microsoft YaHei UI"/>
              </a:rPr>
              <a:t>视频
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2637"/>
                </a:solidFill>
                <a:latin typeface="Microsoft YaHei UI"/>
              </a:rPr>
              <a:t>为什么要做这套流程？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79552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A82"/>
                </a:solidFill>
                <a:latin typeface="Microsoft YaHei UI"/>
              </a:rPr>
              <a:t>视频信息密度高，但复习效率低；笔记能把临时观看变成长期资产。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3566160"/>
          </a:xfrm>
          <a:prstGeom prst="rect">
            <a:avLst/>
          </a:prstGeom>
          <a:solidFill>
            <a:srgbClr val="F59139"/>
          </a:solidFill>
          <a:ln>
            <a:solidFill>
              <a:srgbClr val="F5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痛点 1：视频太长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2926079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看完容易忘，回看又要拖进度条，定位关键操作很耗时间。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73152" cy="3566160"/>
          </a:xfrm>
          <a:prstGeom prst="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0992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痛点 2：操作细节散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2926079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菜单路径、参数设置、结果解释常常混在口播里，复习时不够清晰。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0876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508760"/>
            <a:ext cx="73152" cy="3566160"/>
          </a:xfrm>
          <a:prstGeom prst="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0992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痛点 3：资料难分享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67128"/>
            <a:ext cx="2926079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视频适合观看，笔记适合传播、检索和二次编辑。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5486400"/>
            <a:ext cx="7955279" cy="457200"/>
          </a:xfrm>
          <a:prstGeom prst="roundRect">
            <a:avLst/>
          </a:prstGeom>
          <a:solidFill>
            <a:srgbClr val="182637"/>
          </a:solidFill>
          <a:ln>
            <a:solidFill>
              <a:srgbClr val="18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目标：让一节视频沉淀成一份可复习、可复制、可分享的图文笔记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2637"/>
                </a:solidFill>
                <a:latin typeface="Microsoft YaHei UI"/>
              </a:rPr>
              <a:t>完整工作流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79552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A82"/>
                </a:solidFill>
                <a:latin typeface="Microsoft YaHei UI"/>
              </a:rPr>
              <a:t>从链接到图文笔记，尽量把重复劳动交给工具。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438912" cy="438912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417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收集链接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35808"/>
            <a:ext cx="1600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B6A82"/>
                </a:solidFill>
                <a:latin typeface="Microsoft YaHei UI"/>
              </a:rPr>
              <a:t>B站链接一行一个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6232" y="1984248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5B6A82"/>
                </a:solidFill>
                <a:latin typeface="Microsoft YaHei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20240"/>
            <a:ext cx="438912" cy="438912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606040"/>
            <a:ext cx="1417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批量下载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3035808"/>
            <a:ext cx="1600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B6A82"/>
                </a:solidFill>
                <a:latin typeface="Microsoft YaHei UI"/>
              </a:rPr>
              <a:t>自动跳过已下载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984248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5B6A82"/>
                </a:solidFill>
                <a:latin typeface="Microsoft YaHei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438912" cy="438912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06040"/>
            <a:ext cx="1417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合并音视频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35808"/>
            <a:ext cx="1600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B6A82"/>
                </a:solidFill>
                <a:latin typeface="Microsoft YaHei UI"/>
              </a:rPr>
              <a:t>输出完整 MP4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2" y="1984248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5B6A82"/>
                </a:solidFill>
                <a:latin typeface="Microsoft YaHei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920240"/>
            <a:ext cx="438912" cy="438912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606040"/>
            <a:ext cx="1417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上传网盘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35808"/>
            <a:ext cx="1600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B6A82"/>
                </a:solidFill>
                <a:latin typeface="Microsoft YaHei UI"/>
              </a:rPr>
              <a:t>同步目录批量上传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984248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5B6A82"/>
                </a:solidFill>
                <a:latin typeface="Microsoft YaHei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920240"/>
            <a:ext cx="438912" cy="438912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606040"/>
            <a:ext cx="1417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信息提取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035808"/>
            <a:ext cx="1600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B6A82"/>
                </a:solidFill>
                <a:latin typeface="Microsoft YaHei UI"/>
              </a:rPr>
              <a:t>摘要、字幕、关键帧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1" y="1984248"/>
            <a:ext cx="320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5B6A82"/>
                </a:solidFill>
                <a:latin typeface="Microsoft YaHei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920240"/>
            <a:ext cx="438912" cy="438912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606040"/>
            <a:ext cx="14173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生成笔记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035808"/>
            <a:ext cx="16002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5B6A82"/>
                </a:solidFill>
                <a:latin typeface="Microsoft YaHei UI"/>
              </a:rPr>
              <a:t>Markdown + 图片清单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4572000"/>
            <a:ext cx="10058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1560" y="4572000"/>
            <a:ext cx="73152" cy="1005840"/>
          </a:xfrm>
          <a:prstGeom prst="rect">
            <a:avLst/>
          </a:prstGeom>
          <a:solidFill>
            <a:srgbClr val="1EBCD8"/>
          </a:solidFill>
          <a:ln>
            <a:solidFill>
              <a:srgbClr val="1EB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773168"/>
            <a:ext cx="96469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核心思路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230368"/>
            <a:ext cx="9646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工具负责下载、合并、上传准备；百度网盘负责视频信息提取；Markdown 模板负责沉淀成结构化笔记。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2637"/>
                </a:solidFill>
                <a:latin typeface="Microsoft YaHei UI"/>
              </a:rPr>
              <a:t>工具已经做好的事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79552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A82"/>
                </a:solidFill>
                <a:latin typeface="Microsoft YaHei UI"/>
              </a:rPr>
              <a:t>适合分享给同学、同事或学习小组，降低使用门槛。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批量链接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926079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一次粘贴多个 B 站链接，适合课程合集。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1417320"/>
          </a:xfrm>
          <a:prstGeom prst="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1848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自动合并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8"/>
            <a:ext cx="2926079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FFmpeg 合并视频流和音频流，避免无声视频。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73152" cy="1417320"/>
          </a:xfrm>
          <a:prstGeom prst="rect">
            <a:avLst/>
          </a:prstGeom>
          <a:solidFill>
            <a:srgbClr val="1EBCD8"/>
          </a:solidFill>
          <a:ln>
            <a:solidFill>
              <a:srgbClr val="1EB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1848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断点续传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75688"/>
            <a:ext cx="2926079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下载中断后重新运行，已完成内容自动跳过。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918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291839"/>
            <a:ext cx="73152" cy="1417320"/>
          </a:xfrm>
          <a:prstGeom prst="rect">
            <a:avLst/>
          </a:prstGeom>
          <a:solidFill>
            <a:srgbClr val="F59139"/>
          </a:solidFill>
          <a:ln>
            <a:solidFill>
              <a:srgbClr val="F5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9300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批量上传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7"/>
            <a:ext cx="2926079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全选下载目录视频，复制到百度网盘同步目录。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2918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291839"/>
            <a:ext cx="73152" cy="1417320"/>
          </a:xfrm>
          <a:prstGeom prst="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49300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模板沉淀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950207"/>
            <a:ext cx="2926079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提供 Markdown 笔记模板和分享版流程文档。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2918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20" y="3291839"/>
            <a:ext cx="73152" cy="1417320"/>
          </a:xfrm>
          <a:prstGeom prst="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493008"/>
            <a:ext cx="2926079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桌面入口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50207"/>
            <a:ext cx="2926079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普通用户双击即可打开，不必记命令。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2637"/>
                </a:solidFill>
                <a:latin typeface="Microsoft YaHei UI"/>
              </a:rPr>
              <a:t>百度网盘在流程里的作用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79552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A82"/>
                </a:solidFill>
                <a:latin typeface="Microsoft YaHei UI"/>
              </a:rPr>
              <a:t>用会员的视频理解能力，把视频内容转成可整理的信息材料。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73152" cy="4023360"/>
          </a:xfrm>
          <a:prstGeom prst="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18488"/>
            <a:ext cx="2971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上传后可提取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75688"/>
            <a:ext cx="29718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视频摘要
字幕/转写
关键时间点
关键帧/截图
AI 问答结果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4023360"/>
          </a:xfrm>
          <a:prstGeom prst="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18488"/>
            <a:ext cx="2971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适合整理成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29718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课程背景
操作路径
参数表格
结果解释
注意事项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4023360"/>
          </a:xfrm>
          <a:prstGeom prst="rect">
            <a:avLst/>
          </a:prstGeom>
          <a:solidFill>
            <a:srgbClr val="F59139"/>
          </a:solidFill>
          <a:ln>
            <a:solidFill>
              <a:srgbClr val="F5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18488"/>
            <a:ext cx="29718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最终沉淀为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88"/>
            <a:ext cx="29718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图文笔记
复习资料
知识库条目
朋友圈分享素材
小组学习材料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2637"/>
                </a:solidFill>
                <a:latin typeface="Microsoft YaHei UI"/>
              </a:rPr>
              <a:t>一份好笔记应该长什么样？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79552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A82"/>
                </a:solidFill>
                <a:latin typeface="Microsoft YaHei UI"/>
              </a:rPr>
              <a:t>不是简单转写，而是把视频变成结构化学习成果。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7160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371600"/>
            <a:ext cx="73152" cy="1051560"/>
          </a:xfrm>
          <a:prstGeom prst="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72768"/>
            <a:ext cx="4846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图片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29967"/>
            <a:ext cx="4846320" cy="228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关键界面截图、参数窗口、模型变化、结果页。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73152" cy="1051560"/>
          </a:xfrm>
          <a:prstGeom prst="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846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操作路径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29967"/>
            <a:ext cx="4846320" cy="228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例如 Build -&gt; Surfaces -&gt; Cleave Surface。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8892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788920"/>
            <a:ext cx="73152" cy="1051560"/>
          </a:xfrm>
          <a:prstGeom prst="rect">
            <a:avLst/>
          </a:prstGeom>
          <a:solidFill>
            <a:srgbClr val="1EBCD8"/>
          </a:solidFill>
          <a:ln>
            <a:solidFill>
              <a:srgbClr val="1EB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990088"/>
            <a:ext cx="4846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参数表格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447287"/>
            <a:ext cx="4846320" cy="228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参数名称、设置内容、参数含义、影响。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788920"/>
            <a:ext cx="73152" cy="1051560"/>
          </a:xfrm>
          <a:prstGeom prst="rect">
            <a:avLst/>
          </a:prstGeom>
          <a:solidFill>
            <a:srgbClr val="F59139"/>
          </a:solidFill>
          <a:ln>
            <a:solidFill>
              <a:srgbClr val="F5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90088"/>
            <a:ext cx="48463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结果解释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47287"/>
            <a:ext cx="4846320" cy="2285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操作前问题、执行功能、操作后结果、后续意义。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4572000"/>
            <a:ext cx="8092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57400" y="4572000"/>
            <a:ext cx="73152" cy="868680"/>
          </a:xfrm>
          <a:prstGeom prst="rect">
            <a:avLst/>
          </a:prstGeom>
          <a:solidFill>
            <a:srgbClr val="182637"/>
          </a:solidFill>
          <a:ln>
            <a:solidFill>
              <a:srgbClr val="18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773168"/>
            <a:ext cx="7680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复习价值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230368"/>
            <a:ext cx="7680960" cy="45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以后不是重新看一遍视频，而是直接打开笔记定位重点。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2637"/>
                </a:solidFill>
                <a:latin typeface="Microsoft YaHei UI"/>
              </a:rPr>
              <a:t>朋友圈分享可以这样表达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79552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A82"/>
                </a:solidFill>
                <a:latin typeface="Microsoft YaHei UI"/>
              </a:rPr>
              <a:t>适合发图、发动态、发学习小组介绍。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39496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200" b="0">
                <a:solidFill>
                  <a:srgbClr val="182637"/>
                </a:solidFill>
                <a:latin typeface="Microsoft YaHei UI"/>
              </a:rPr>
              <a:t>我把课程视频整理成了可复习的图文笔记流程：
1. B站视频批量下载
2. 自动合并音视频
3. 批量上传百度网盘
4. 用会员能力提取摘要/字幕/关键帧
5. 整理成 Markdown 图文笔记
适合软件学习、课程复盘、科研技能训练。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63040"/>
            <a:ext cx="1234440" cy="502920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可复制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2240280"/>
            <a:ext cx="1234440" cy="502920"/>
          </a:xfrm>
          <a:prstGeom prst="round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可复习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063240"/>
            <a:ext cx="1234440" cy="502920"/>
          </a:xfrm>
          <a:prstGeom prst="roundRect">
            <a:avLst/>
          </a:prstGeom>
          <a:solidFill>
            <a:srgbClr val="F59139"/>
          </a:solidFill>
          <a:ln>
            <a:solidFill>
              <a:srgbClr val="F5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可分享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3840480"/>
            <a:ext cx="1234440" cy="502920"/>
          </a:xfrm>
          <a:prstGeom prst="roundRect">
            <a:avLst/>
          </a:prstGeom>
          <a:solidFill>
            <a:srgbClr val="1EBCD8"/>
          </a:solidFill>
          <a:ln>
            <a:solidFill>
              <a:srgbClr val="1EB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可沉淀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82637"/>
                </a:solidFill>
                <a:latin typeface="Microsoft YaHei UI"/>
              </a:rPr>
              <a:t>分享给别人前的打包清单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79552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B6A82"/>
                </a:solidFill>
                <a:latin typeface="Microsoft YaHei UI"/>
              </a:rPr>
              <a:t>别人能不能跑起来，取决于你给的是不是完整流程。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84048" cy="384048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1307592"/>
            <a:ext cx="2286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工具文件夹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307592"/>
            <a:ext cx="6309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B6A82"/>
                </a:solidFill>
                <a:latin typeface="Microsoft YaHei UI"/>
              </a:rPr>
              <a:t>BilibiliBatchDownloader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384048" cy="384048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084831"/>
            <a:ext cx="2286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桌面启动器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084831"/>
            <a:ext cx="6309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B6A82"/>
                </a:solidFill>
                <a:latin typeface="Microsoft YaHei UI"/>
              </a:rPr>
              <a:t>B站批量下载器.lnk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80360"/>
            <a:ext cx="384048" cy="384048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862072"/>
            <a:ext cx="2286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流程说明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62072"/>
            <a:ext cx="6309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B6A82"/>
                </a:solidFill>
                <a:latin typeface="Microsoft YaHei UI"/>
              </a:rPr>
              <a:t>视频转图文笔记_分享版流程.md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384048" cy="384048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639312"/>
            <a:ext cx="2286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笔记模板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639312"/>
            <a:ext cx="6309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B6A82"/>
                </a:solidFill>
                <a:latin typeface="Microsoft YaHei UI"/>
              </a:rPr>
              <a:t>图文笔记模板.md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384048" cy="384048"/>
          </a:xfrm>
          <a:prstGeom prst="round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416552"/>
            <a:ext cx="2286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82637"/>
                </a:solidFill>
                <a:latin typeface="Microsoft YaHei UI"/>
              </a:rPr>
              <a:t>示例成果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416552"/>
            <a:ext cx="6309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B6A82"/>
                </a:solidFill>
                <a:latin typeface="Microsoft YaHei UI"/>
              </a:rPr>
              <a:t>一份已经整理好的 Markdown 笔记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36576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182637"/>
                </a:solidFill>
                <a:latin typeface="Microsoft YaHei U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585216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82637"/>
                </a:solidFill>
                <a:latin typeface="Microsoft YaHei UI"/>
              </a:rPr>
              <a:t>选一套课程视频，跑通一次完整流程。
从“看过”变成“留下来”。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1546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3154680"/>
            <a:ext cx="73152" cy="1417320"/>
          </a:xfrm>
          <a:prstGeom prst="rect">
            <a:avLst/>
          </a:prstGeom>
          <a:solidFill>
            <a:srgbClr val="1C76FF"/>
          </a:solidFill>
          <a:ln>
            <a:solidFill>
              <a:srgbClr val="1C7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55848"/>
            <a:ext cx="2880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适合谁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13048"/>
            <a:ext cx="288036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软件学习者、科研训练、课程复盘、学习小组。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1546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3154680"/>
            <a:ext cx="73152" cy="1417320"/>
          </a:xfrm>
          <a:prstGeom prst="rect">
            <a:avLst/>
          </a:prstGeom>
          <a:solidFill>
            <a:srgbClr val="28B27A"/>
          </a:solidFill>
          <a:ln>
            <a:solidFill>
              <a:srgbClr val="28B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355848"/>
            <a:ext cx="2880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能得到什么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813048"/>
            <a:ext cx="288036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视频资料、提取信息、图文笔记、复习模板。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1546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3154680"/>
            <a:ext cx="73152" cy="1417320"/>
          </a:xfrm>
          <a:prstGeom prst="rect">
            <a:avLst/>
          </a:prstGeom>
          <a:solidFill>
            <a:srgbClr val="F59139"/>
          </a:solidFill>
          <a:ln>
            <a:solidFill>
              <a:srgbClr val="F5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355848"/>
            <a:ext cx="28803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82637"/>
                </a:solidFill>
                <a:latin typeface="Microsoft YaHei UI"/>
              </a:rPr>
              <a:t>分享方式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13048"/>
            <a:ext cx="288036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B6A82"/>
                </a:solidFill>
                <a:latin typeface="Microsoft YaHei UI"/>
              </a:rPr>
              <a:t>PPT、朋友圈长图、Markdown 笔记包。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5577840"/>
            <a:ext cx="7955279" cy="530352"/>
          </a:xfrm>
          <a:prstGeom prst="roundRect">
            <a:avLst/>
          </a:prstGeom>
          <a:solidFill>
            <a:srgbClr val="182637"/>
          </a:solidFill>
          <a:ln>
            <a:solidFill>
              <a:srgbClr val="18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 UI"/>
              </a:rPr>
              <a:t>让视频学习变成可沉淀的知识生产线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3035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B6A82"/>
                </a:solidFill>
                <a:latin typeface="Microsoft YaHei UI"/>
              </a:rPr>
              <a:t>B站视频 -&gt; 百度网盘 -&gt; 图文笔记工作流  · 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